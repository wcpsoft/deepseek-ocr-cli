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4F945-6BA4-1910-6E5E-0D80AC6B6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3C7D01-F8F0-F1E3-B839-672131020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40F06D-DD38-D00F-B4A2-594ABC3D2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B90-2FC3-8F48-A3AF-83A737A525C5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D7B18D-919F-E2EC-311D-9C650C056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F94B75-5D38-854A-1F14-325EFC8F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183C2-FC89-004B-A48C-93E323BEE4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744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3D0A06-A19F-5039-AAD0-BE77A966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268133-C9AB-2FEE-FAD5-1856ADCE4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462BEB-2826-510E-119F-10298E520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B90-2FC3-8F48-A3AF-83A737A525C5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C3B4F8-460D-C6C0-E691-F9C38652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FD91A-A05D-FFD0-CE39-6D9890FB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183C2-FC89-004B-A48C-93E323BEE4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5535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86A3E-419C-B387-8D9A-10ABF26D7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58FF4B-7315-FA37-E4E7-EA0028D7A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B30CC1-CAD0-6D54-B878-4309EE96C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B90-2FC3-8F48-A3AF-83A737A525C5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ED8828-33E1-0047-0B65-49A35BA7B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F17C48-B098-1874-688D-652F2350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183C2-FC89-004B-A48C-93E323BEE4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408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04347-1842-29D3-C06E-DB8D90337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D5AA8-63D5-F212-6874-A1DBDE5BC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6C4D19-A04C-D1E8-D3B1-990018246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683D80-6E45-D440-9B90-2F2FC7FC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B90-2FC3-8F48-A3AF-83A737A525C5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CE9926-3860-82B6-3CAE-339C6086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F31C72-3C2E-DA49-AE57-7BE01DD3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183C2-FC89-004B-A48C-93E323BEE4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658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C01A6-CDA7-6801-5333-5F462CB2E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24D3B0-AB20-B536-0C6C-AE0EB202C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3965A3-AC21-2512-4F09-A400FE08E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FA0A69-F764-9785-7A67-2173CD75B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B2A63E-A148-A919-CA6B-964534B752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079B06-3321-DFCE-BEE2-2643BE7F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B90-2FC3-8F48-A3AF-83A737A525C5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DFB550-90D2-F3D7-D538-BE0210FEC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FC0540-CFF0-C3AA-1708-AB7A2B221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183C2-FC89-004B-A48C-93E323BEE4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84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31013A-F450-D1A4-5B4D-E900C005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DCB192-661D-F13F-7812-232794DD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B90-2FC3-8F48-A3AF-83A737A525C5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D82A67-E7A1-6CA3-45DB-AEDB7EE01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9A023F-3BA8-A27A-CC46-BC0A7943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183C2-FC89-004B-A48C-93E323BEE4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0796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C10386-3BD2-F4DC-6DC3-BBDF36E9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B90-2FC3-8F48-A3AF-83A737A525C5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4E350F-2656-E1AC-13F5-F69CE517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F6657D-AAF8-23E7-0F66-754559076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183C2-FC89-004B-A48C-93E323BEE4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81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646266-627D-DEE3-7734-4A629CA45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D29157-7532-AA81-F35C-C068591C5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FD2CCB-274F-5641-96B6-53192B577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631279-2FB4-0DFA-DEFB-41D40819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B90-2FC3-8F48-A3AF-83A737A525C5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810927-B283-E8C7-86B4-F110596AE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E384F5-2223-C2E6-4720-27042A60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183C2-FC89-004B-A48C-93E323BEE4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8061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7968A-EEF5-37DB-F888-7E3705C10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A21E777-0FCF-4C24-C4C9-5B504FF037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141727-1B71-536E-9348-0A5033AC2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BBC59D-7F14-3A55-CD53-EFD27346E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B90-2FC3-8F48-A3AF-83A737A525C5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E1BDD1-5859-C49E-94F7-158B31FCD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720665-B3B3-745F-4E83-D8A9BB734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183C2-FC89-004B-A48C-93E323BEE4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763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F3FA0-475E-0695-AB2E-0F40EA4A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D3C5FA-4F15-4CAA-0F55-9003F4C2A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D71AE9-ED51-A136-B656-1FA7B0E2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B90-2FC3-8F48-A3AF-83A737A525C5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C8B1D8-E044-6380-9A6F-E5597DC7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1B5294-8A31-A261-5025-8EB32E02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183C2-FC89-004B-A48C-93E323BEE4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8159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01C5ED-DA35-67C7-C1DA-9B1E22A9B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B4E4AA-C385-2A4E-CCC0-A8BCDF238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27DEAF-9F4A-84C3-217D-8972E899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CB90-2FC3-8F48-A3AF-83A737A525C5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68F054-504C-7C87-46A8-49FEFDBF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E321B-736D-6609-2D29-09FEE2B6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183C2-FC89-004B-A48C-93E323BEE4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810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11FF2F-C563-D59A-5ABD-95411BAC7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AB9DDB-61B2-DE2C-DC94-00C20A701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7492DA-33DD-3018-098A-8634AF5669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DCB90-2FC3-8F48-A3AF-83A737A525C5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415F7-6DEA-8510-7102-BFE714C88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97456C-033F-F685-5817-547BA31795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183C2-FC89-004B-A48C-93E323BEE4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504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80C3767-829F-F649-A45C-E2A7B34B81FC}"/>
              </a:ext>
            </a:extLst>
          </p:cNvPr>
          <p:cNvSpPr txBox="1"/>
          <p:nvPr/>
        </p:nvSpPr>
        <p:spPr>
          <a:xfrm>
            <a:off x="3049044" y="438951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6700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方正小标宋简体"/>
                <a:cs typeface="Times New Roman" panose="02020603050405020304" pitchFamily="18" charset="0"/>
              </a:rPr>
              <a:t>电离辐射标志及危害告知牌</a:t>
            </a:r>
            <a:endParaRPr lang="zh-CN" altLang="zh-CN" sz="11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EEB554D-E51E-516E-1BA4-6E1A1443B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422174"/>
              </p:ext>
            </p:extLst>
          </p:nvPr>
        </p:nvGraphicFramePr>
        <p:xfrm>
          <a:off x="3389856" y="1675061"/>
          <a:ext cx="5753100" cy="28454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5530">
                  <a:extLst>
                    <a:ext uri="{9D8B030D-6E8A-4147-A177-3AD203B41FA5}">
                      <a16:colId xmlns:a16="http://schemas.microsoft.com/office/drawing/2014/main" val="2902080036"/>
                    </a:ext>
                  </a:extLst>
                </a:gridCol>
                <a:gridCol w="3417570">
                  <a:extLst>
                    <a:ext uri="{9D8B030D-6E8A-4147-A177-3AD203B41FA5}">
                      <a16:colId xmlns:a16="http://schemas.microsoft.com/office/drawing/2014/main" val="3668631298"/>
                    </a:ext>
                  </a:extLst>
                </a:gridCol>
              </a:tblGrid>
              <a:tr h="2845435">
                <a:tc>
                  <a:txBody>
                    <a:bodyPr/>
                    <a:lstStyle/>
                    <a:p>
                      <a:pPr indent="114935" algn="ctr">
                        <a:lnSpc>
                          <a:spcPct val="115000"/>
                        </a:lnSpc>
                      </a:pPr>
                      <a:endParaRPr lang="en-US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14935" algn="just">
                        <a:lnSpc>
                          <a:spcPts val="2100"/>
                        </a:lnSpc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sz="1400" kern="100" dirty="0">
                          <a:effectLst/>
                        </a:rPr>
                        <a:t>说　　明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just">
                        <a:lnSpc>
                          <a:spcPts val="2100"/>
                        </a:lnSpc>
                      </a:pPr>
                      <a:r>
                        <a:rPr lang="en-US" sz="1400" kern="100" dirty="0">
                          <a:effectLst/>
                        </a:rPr>
                        <a:t>1</a:t>
                      </a:r>
                      <a:r>
                        <a:rPr lang="zh-CN" sz="1400" kern="100" dirty="0">
                          <a:effectLst/>
                        </a:rPr>
                        <a:t>、电离辐射警告标志规格颜色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sz="1400" kern="100" dirty="0">
                          <a:effectLst/>
                        </a:rPr>
                        <a:t>形状：等边三角形，内边长</a:t>
                      </a:r>
                      <a:r>
                        <a:rPr lang="en-US" sz="1400" kern="100" dirty="0">
                          <a:effectLst/>
                        </a:rPr>
                        <a:t>a1=0.034L</a:t>
                      </a:r>
                      <a:r>
                        <a:rPr lang="zh-CN" sz="1400" kern="100" dirty="0">
                          <a:effectLst/>
                        </a:rPr>
                        <a:t>（</a:t>
                      </a:r>
                      <a:r>
                        <a:rPr lang="en-US" sz="1400" kern="100" dirty="0">
                          <a:effectLst/>
                        </a:rPr>
                        <a:t>L</a:t>
                      </a:r>
                      <a:r>
                        <a:rPr lang="zh-CN" sz="1400" kern="100" dirty="0">
                          <a:effectLst/>
                        </a:rPr>
                        <a:t>为观察距离），外边长</a:t>
                      </a:r>
                      <a:r>
                        <a:rPr lang="en-US" sz="1400" kern="100" dirty="0">
                          <a:effectLst/>
                        </a:rPr>
                        <a:t>a2=0.700 a1</a:t>
                      </a:r>
                      <a:r>
                        <a:rPr lang="zh-CN" sz="1400" kern="100" dirty="0">
                          <a:effectLst/>
                        </a:rPr>
                        <a:t>。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sz="1400" kern="100" dirty="0">
                          <a:effectLst/>
                        </a:rPr>
                        <a:t>颜色：背景为黄色，边框图形为黑色，六个黑字的背景为白色。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just">
                        <a:lnSpc>
                          <a:spcPts val="2100"/>
                        </a:lnSpc>
                      </a:pPr>
                      <a:r>
                        <a:rPr lang="zh-CN" sz="1400" kern="100" dirty="0">
                          <a:effectLst/>
                        </a:rPr>
                        <a:t>字体：黑体加粗字体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just">
                        <a:lnSpc>
                          <a:spcPts val="2100"/>
                        </a:lnSpc>
                      </a:pPr>
                      <a:r>
                        <a:rPr lang="zh-CN" sz="1400" kern="100" dirty="0">
                          <a:effectLst/>
                        </a:rPr>
                        <a:t>材质：铁平或铝板材质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just">
                        <a:lnSpc>
                          <a:spcPts val="2100"/>
                        </a:lnSpc>
                      </a:pPr>
                      <a:r>
                        <a:rPr lang="en-US" sz="1400" kern="100" dirty="0">
                          <a:effectLst/>
                        </a:rPr>
                        <a:t>2</a:t>
                      </a:r>
                      <a:r>
                        <a:rPr lang="zh-CN" sz="1400" kern="100" dirty="0">
                          <a:effectLst/>
                        </a:rPr>
                        <a:t>、使用于：放射源使用场所。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7212626"/>
                  </a:ext>
                </a:extLst>
              </a:tr>
            </a:tbl>
          </a:graphicData>
        </a:graphic>
      </p:graphicFrame>
      <p:pic>
        <p:nvPicPr>
          <p:cNvPr id="7" name="图片 6" descr="说明: 65bOOOPICfc">
            <a:extLst>
              <a:ext uri="{FF2B5EF4-FFF2-40B4-BE49-F238E27FC236}">
                <a16:creationId xmlns:a16="http://schemas.microsoft.com/office/drawing/2014/main" id="{1DE6AAEA-AA10-B87A-3894-D58E01EC590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945" y="1802378"/>
            <a:ext cx="1847850" cy="259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6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1B5EE85-F1A9-F5AD-049C-5135D7DFEA6D}"/>
              </a:ext>
            </a:extLst>
          </p:cNvPr>
          <p:cNvSpPr txBox="1"/>
          <p:nvPr/>
        </p:nvSpPr>
        <p:spPr>
          <a:xfrm>
            <a:off x="2917371" y="2507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放射源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职业危害告知牌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模板</a:t>
            </a:r>
            <a:r>
              <a:rPr lang="zh-CN" altLang="zh-CN" b="1" dirty="0">
                <a:effectLst/>
              </a:rPr>
              <a:t> </a:t>
            </a:r>
            <a:endParaRPr lang="zh-CN" altLang="en-US" b="1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176CD5F-1819-F82F-FB8D-0B97B8296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578693"/>
              </p:ext>
            </p:extLst>
          </p:nvPr>
        </p:nvGraphicFramePr>
        <p:xfrm>
          <a:off x="926836" y="968830"/>
          <a:ext cx="10426963" cy="52198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8153">
                  <a:extLst>
                    <a:ext uri="{9D8B030D-6E8A-4147-A177-3AD203B41FA5}">
                      <a16:colId xmlns:a16="http://schemas.microsoft.com/office/drawing/2014/main" val="3004830500"/>
                    </a:ext>
                  </a:extLst>
                </a:gridCol>
                <a:gridCol w="135432">
                  <a:extLst>
                    <a:ext uri="{9D8B030D-6E8A-4147-A177-3AD203B41FA5}">
                      <a16:colId xmlns:a16="http://schemas.microsoft.com/office/drawing/2014/main" val="73052491"/>
                    </a:ext>
                  </a:extLst>
                </a:gridCol>
                <a:gridCol w="3267166">
                  <a:extLst>
                    <a:ext uri="{9D8B030D-6E8A-4147-A177-3AD203B41FA5}">
                      <a16:colId xmlns:a16="http://schemas.microsoft.com/office/drawing/2014/main" val="2026773608"/>
                    </a:ext>
                  </a:extLst>
                </a:gridCol>
                <a:gridCol w="1833614">
                  <a:extLst>
                    <a:ext uri="{9D8B030D-6E8A-4147-A177-3AD203B41FA5}">
                      <a16:colId xmlns:a16="http://schemas.microsoft.com/office/drawing/2014/main" val="2849987791"/>
                    </a:ext>
                  </a:extLst>
                </a:gridCol>
                <a:gridCol w="135432">
                  <a:extLst>
                    <a:ext uri="{9D8B030D-6E8A-4147-A177-3AD203B41FA5}">
                      <a16:colId xmlns:a16="http://schemas.microsoft.com/office/drawing/2014/main" val="335472438"/>
                    </a:ext>
                  </a:extLst>
                </a:gridCol>
                <a:gridCol w="3267166">
                  <a:extLst>
                    <a:ext uri="{9D8B030D-6E8A-4147-A177-3AD203B41FA5}">
                      <a16:colId xmlns:a16="http://schemas.microsoft.com/office/drawing/2014/main" val="2017542750"/>
                    </a:ext>
                  </a:extLst>
                </a:gridCol>
              </a:tblGrid>
              <a:tr h="235789">
                <a:tc rowSpan="2"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400" kern="100">
                          <a:effectLst/>
                        </a:rPr>
                        <a:t>放射源编码卡信息</a:t>
                      </a:r>
                      <a:endParaRPr lang="zh-CN" sz="1000" kern="1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</a:rPr>
                        <a:t>位号：</a:t>
                      </a:r>
                      <a:endParaRPr lang="zh-CN" sz="1000" kern="1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</a:rPr>
                        <a:t>出厂活度：</a:t>
                      </a:r>
                      <a:endParaRPr lang="zh-CN" sz="1000" kern="1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</a:rPr>
                        <a:t>出厂日期：</a:t>
                      </a:r>
                      <a:endParaRPr lang="zh-CN" sz="1000" kern="1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</a:rPr>
                        <a:t>生产厂家：</a:t>
                      </a:r>
                      <a:endParaRPr lang="zh-CN" sz="1000" kern="1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</a:rPr>
                        <a:t>毛重：</a:t>
                      </a:r>
                      <a:r>
                        <a:rPr lang="en-US" sz="1200" kern="100">
                          <a:effectLst/>
                        </a:rPr>
                        <a:t>         </a:t>
                      </a:r>
                      <a:r>
                        <a:rPr lang="zh-CN" sz="1200" kern="100">
                          <a:effectLst/>
                        </a:rPr>
                        <a:t>净重：</a:t>
                      </a:r>
                      <a:endParaRPr lang="zh-CN" sz="1000" kern="1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</a:rPr>
                        <a:t>标号：</a:t>
                      </a:r>
                      <a:r>
                        <a:rPr lang="en-US" sz="1200" kern="100">
                          <a:effectLst/>
                        </a:rPr>
                        <a:t>   </a:t>
                      </a:r>
                      <a:endParaRPr lang="zh-CN" sz="1000" kern="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</a:rPr>
                        <a:t>国家编码：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</a:rPr>
                        <a:t>健康危害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</a:rPr>
                        <a:t>理化特性</a:t>
                      </a:r>
                      <a:r>
                        <a:rPr lang="en-US" sz="1200" kern="100">
                          <a:effectLst/>
                        </a:rPr>
                        <a:t>/</a:t>
                      </a:r>
                      <a:r>
                        <a:rPr lang="zh-CN" sz="1200" kern="100">
                          <a:effectLst/>
                        </a:rPr>
                        <a:t>安全防护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extLst>
                  <a:ext uri="{0D108BD9-81ED-4DB2-BD59-A6C34878D82A}">
                    <a16:rowId xmlns:a16="http://schemas.microsoft.com/office/drawing/2014/main" val="4128842745"/>
                  </a:ext>
                </a:extLst>
              </a:tr>
              <a:tr h="180073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ts val="1600"/>
                        </a:lnSpc>
                      </a:pPr>
                      <a:r>
                        <a:rPr lang="zh-CN" sz="1000" kern="100">
                          <a:effectLst/>
                        </a:rPr>
                        <a:t>本装置放射源正常情况下几乎不会对人造成永久性损伤</a:t>
                      </a:r>
                      <a:r>
                        <a:rPr lang="en-US" sz="1000" kern="100">
                          <a:effectLst/>
                        </a:rPr>
                        <a:t>,</a:t>
                      </a:r>
                      <a:r>
                        <a:rPr lang="zh-CN" sz="1000" kern="100">
                          <a:effectLst/>
                        </a:rPr>
                        <a:t>当这类源没有处于安全管理或可靠保安状态下，对操作、接触或接近无屏蔽这类源的人员造成临时性损伤。铯</a:t>
                      </a:r>
                      <a:r>
                        <a:rPr lang="en-US" sz="1000" kern="100">
                          <a:effectLst/>
                        </a:rPr>
                        <a:t>137</a:t>
                      </a:r>
                      <a:r>
                        <a:rPr lang="zh-CN" sz="1000" kern="100">
                          <a:effectLst/>
                        </a:rPr>
                        <a:t>对人体的影响取决于其辐射强度、暴露时间和受影响的人体细胞种类等。如果涉及的铯</a:t>
                      </a:r>
                      <a:r>
                        <a:rPr lang="en-US" sz="1000" kern="100">
                          <a:effectLst/>
                        </a:rPr>
                        <a:t>137</a:t>
                      </a:r>
                      <a:r>
                        <a:rPr lang="zh-CN" sz="1000" kern="100">
                          <a:effectLst/>
                        </a:rPr>
                        <a:t>是一个非常高辐射的放射源，可能会引起急性放射病症例如：恶心，疲倦，呕吐及毛发脱落等，如果受到约</a:t>
                      </a:r>
                      <a:r>
                        <a:rPr lang="en-US" sz="1000" kern="100">
                          <a:effectLst/>
                        </a:rPr>
                        <a:t>1</a:t>
                      </a:r>
                      <a:r>
                        <a:rPr lang="zh-CN" sz="1000" kern="100">
                          <a:effectLst/>
                        </a:rPr>
                        <a:t>希沃特的直接照射，甚至可以引致死亡。铯</a:t>
                      </a:r>
                      <a:r>
                        <a:rPr lang="en-US" sz="1000" kern="100">
                          <a:effectLst/>
                        </a:rPr>
                        <a:t>137</a:t>
                      </a:r>
                      <a:r>
                        <a:rPr lang="zh-CN" sz="1000" kern="100">
                          <a:effectLst/>
                        </a:rPr>
                        <a:t>进入人体会积聚在肌肉组织中，并有可能增加患癌症的风险，会引起细胞组织的基因异变，如白血病等癌症。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600"/>
                        </a:lnSpc>
                      </a:pPr>
                      <a:r>
                        <a:rPr lang="zh-CN" sz="1000" kern="100">
                          <a:effectLst/>
                        </a:rPr>
                        <a:t>本装置共</a:t>
                      </a:r>
                      <a:r>
                        <a:rPr lang="en-US" sz="1000" kern="100">
                          <a:effectLst/>
                        </a:rPr>
                        <a:t>7</a:t>
                      </a:r>
                      <a:r>
                        <a:rPr lang="zh-CN" sz="1000" kern="100">
                          <a:effectLst/>
                        </a:rPr>
                        <a:t>枚</a:t>
                      </a:r>
                      <a:r>
                        <a:rPr lang="en-US" sz="1000" kern="100">
                          <a:effectLst/>
                        </a:rPr>
                        <a:t>Cs-137</a:t>
                      </a:r>
                      <a:r>
                        <a:rPr lang="zh-CN" sz="1000" kern="100">
                          <a:effectLst/>
                        </a:rPr>
                        <a:t>，属于Ⅳ、Ⅴ类源。按密封状况分属于密封源。铯</a:t>
                      </a:r>
                      <a:r>
                        <a:rPr lang="en-US" sz="1000" kern="100">
                          <a:effectLst/>
                        </a:rPr>
                        <a:t>-137</a:t>
                      </a:r>
                      <a:r>
                        <a:rPr lang="zh-CN" sz="1000" kern="100">
                          <a:effectLst/>
                        </a:rPr>
                        <a:t>呈银白色、质软、化学性质极为活泼，遇水发生爆炸，放射性较强，人体摄入量小于</a:t>
                      </a:r>
                      <a:r>
                        <a:rPr lang="en-US" sz="1000" kern="100">
                          <a:effectLst/>
                        </a:rPr>
                        <a:t>0.25Gy</a:t>
                      </a:r>
                      <a:r>
                        <a:rPr lang="zh-CN" sz="1000" kern="100">
                          <a:effectLst/>
                        </a:rPr>
                        <a:t>属于安全范围。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extLst>
                  <a:ext uri="{0D108BD9-81ED-4DB2-BD59-A6C34878D82A}">
                    <a16:rowId xmlns:a16="http://schemas.microsoft.com/office/drawing/2014/main" val="3026145833"/>
                  </a:ext>
                </a:extLst>
              </a:tr>
              <a:tr h="317738">
                <a:tc rowSpan="3" gridSpan="2">
                  <a:txBody>
                    <a:bodyPr/>
                    <a:lstStyle/>
                    <a:p>
                      <a:pPr indent="114935" algn="just">
                        <a:lnSpc>
                          <a:spcPct val="115000"/>
                        </a:lnSpc>
                      </a:pPr>
                      <a:endParaRPr lang="en-US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</a:rPr>
                        <a:t>应急处理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49308"/>
                  </a:ext>
                </a:extLst>
              </a:tr>
              <a:tr h="750338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just">
                        <a:lnSpc>
                          <a:spcPts val="1700"/>
                        </a:lnSpc>
                      </a:pPr>
                      <a:r>
                        <a:rPr lang="zh-CN" sz="1000" kern="100" dirty="0">
                          <a:effectLst/>
                        </a:rPr>
                        <a:t>当发现自己被照射或近距离接触裸露放射源时，赶紧远离射源，马上就医。工作后应采用专用核清洗液进行全身清洗，对重点污染部位清洗</a:t>
                      </a:r>
                      <a:r>
                        <a:rPr lang="en-US" sz="1000" kern="100" dirty="0">
                          <a:effectLst/>
                        </a:rPr>
                        <a:t>3</a:t>
                      </a:r>
                      <a:r>
                        <a:rPr lang="zh-CN" sz="1000" kern="100" dirty="0">
                          <a:effectLst/>
                        </a:rPr>
                        <a:t>次以上。如果没有专用清洗液，也可以采用肥皂和水进行清洗，注意不要擦伤皮肤。如果身体有创伤，采用干擦洗后进行检测。服装和覆盖面去污应采用专业洗消设备进行。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956592"/>
                  </a:ext>
                </a:extLst>
              </a:tr>
              <a:tr h="1165037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840568"/>
                  </a:ext>
                </a:extLst>
              </a:tr>
              <a:tr h="307296">
                <a:tc gridSpan="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</a:rPr>
                        <a:t>车间负责人：</a:t>
                      </a:r>
                      <a:r>
                        <a:rPr lang="en-US" sz="1200" kern="100">
                          <a:effectLst/>
                        </a:rPr>
                        <a:t>                                </a:t>
                      </a:r>
                      <a:r>
                        <a:rPr lang="zh-CN" sz="1200" kern="100">
                          <a:effectLst/>
                        </a:rPr>
                        <a:t>车间联系电话：</a:t>
                      </a:r>
                      <a:r>
                        <a:rPr lang="en-US" sz="1200" kern="100">
                          <a:effectLst/>
                        </a:rPr>
                        <a:t>            </a:t>
                      </a:r>
                      <a:r>
                        <a:rPr lang="en-US" sz="1000" kern="100">
                          <a:effectLst/>
                        </a:rPr>
                        <a:t>             </a:t>
                      </a:r>
                      <a:r>
                        <a:rPr lang="en-US" sz="1200" kern="100">
                          <a:effectLst/>
                        </a:rPr>
                        <a:t>     </a:t>
                      </a:r>
                      <a:r>
                        <a:rPr lang="zh-CN" sz="1200" kern="100">
                          <a:effectLst/>
                        </a:rPr>
                        <a:t>急救电话：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054456"/>
                  </a:ext>
                </a:extLst>
              </a:tr>
              <a:tr h="3460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</a:rPr>
                        <a:t>5</a:t>
                      </a:r>
                      <a:r>
                        <a:rPr lang="zh-CN" sz="1200" kern="100">
                          <a:effectLst/>
                        </a:rPr>
                        <a:t>㎝范围内剂量当量率</a:t>
                      </a:r>
                      <a:r>
                        <a:rPr lang="en-US" sz="1200" kern="100">
                          <a:effectLst/>
                        </a:rPr>
                        <a:t>          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</a:rPr>
                        <a:t>标准值：</a:t>
                      </a:r>
                      <a:r>
                        <a:rPr lang="en-US" sz="1200" kern="100">
                          <a:effectLst/>
                        </a:rPr>
                        <a:t>     </a:t>
                      </a:r>
                      <a:r>
                        <a:rPr lang="zh-CN" sz="1200" kern="100">
                          <a:effectLst/>
                        </a:rPr>
                        <a:t>μ</a:t>
                      </a:r>
                      <a:r>
                        <a:rPr lang="en-US" sz="1200" kern="100">
                          <a:effectLst/>
                        </a:rPr>
                        <a:t>Sv/h    </a:t>
                      </a:r>
                      <a:r>
                        <a:rPr lang="zh-CN" sz="1200" kern="100">
                          <a:effectLst/>
                        </a:rPr>
                        <a:t>检测值</a:t>
                      </a:r>
                      <a:r>
                        <a:rPr lang="en-US" sz="1200" kern="100">
                          <a:effectLst/>
                        </a:rPr>
                        <a:t>   </a:t>
                      </a:r>
                      <a:r>
                        <a:rPr lang="zh-CN" sz="1200" kern="100">
                          <a:effectLst/>
                        </a:rPr>
                        <a:t>μ</a:t>
                      </a:r>
                      <a:r>
                        <a:rPr lang="en-US" sz="1200" kern="100">
                          <a:effectLst/>
                        </a:rPr>
                        <a:t>Sv/h  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200" kern="100">
                          <a:effectLst/>
                        </a:rPr>
                        <a:t>100</a:t>
                      </a:r>
                      <a:r>
                        <a:rPr lang="zh-CN" sz="1200" kern="100">
                          <a:effectLst/>
                        </a:rPr>
                        <a:t>㎝范围内剂量当量率</a:t>
                      </a:r>
                      <a:r>
                        <a:rPr lang="en-US" sz="1200" kern="100">
                          <a:effectLst/>
                        </a:rPr>
                        <a:t> 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200" kern="100">
                          <a:effectLst/>
                        </a:rPr>
                        <a:t>标准值：</a:t>
                      </a:r>
                      <a:r>
                        <a:rPr lang="en-US" sz="1200" kern="100">
                          <a:effectLst/>
                        </a:rPr>
                        <a:t>      </a:t>
                      </a:r>
                      <a:r>
                        <a:rPr lang="zh-CN" sz="1200" kern="100">
                          <a:effectLst/>
                        </a:rPr>
                        <a:t>μ</a:t>
                      </a:r>
                      <a:r>
                        <a:rPr lang="en-US" sz="1200" kern="100">
                          <a:effectLst/>
                        </a:rPr>
                        <a:t>Sv/h    </a:t>
                      </a:r>
                      <a:r>
                        <a:rPr lang="zh-CN" sz="1200" kern="100">
                          <a:effectLst/>
                        </a:rPr>
                        <a:t>检测值：</a:t>
                      </a:r>
                      <a:r>
                        <a:rPr lang="en-US" sz="1200" kern="100">
                          <a:effectLst/>
                        </a:rPr>
                        <a:t>   </a:t>
                      </a:r>
                      <a:r>
                        <a:rPr lang="zh-CN" sz="1200" kern="100">
                          <a:effectLst/>
                        </a:rPr>
                        <a:t>μ</a:t>
                      </a:r>
                      <a:r>
                        <a:rPr lang="en-US" sz="1200" kern="100">
                          <a:effectLst/>
                        </a:rPr>
                        <a:t>Sv/h 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721800"/>
                  </a:ext>
                </a:extLst>
              </a:tr>
              <a:tr h="296854">
                <a:tc gridSpan="6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CN" sz="1200" kern="100" dirty="0">
                          <a:effectLst/>
                        </a:rPr>
                        <a:t>运行状态：</a:t>
                      </a:r>
                      <a:r>
                        <a:rPr lang="en-US" sz="1200" kern="100" dirty="0">
                          <a:effectLst/>
                        </a:rPr>
                        <a:t>         </a:t>
                      </a:r>
                      <a:r>
                        <a:rPr lang="zh-CN" sz="1200" kern="100" dirty="0">
                          <a:effectLst/>
                        </a:rPr>
                        <a:t>检测结论：合格 </a:t>
                      </a:r>
                      <a:r>
                        <a:rPr lang="en-US" sz="1200" kern="100" dirty="0">
                          <a:effectLst/>
                          <a:sym typeface="Wingdings 2" pitchFamily="2" charset="2"/>
                        </a:rPr>
                        <a:t></a:t>
                      </a:r>
                      <a:r>
                        <a:rPr lang="en-US" sz="1200" kern="100" dirty="0">
                          <a:effectLst/>
                        </a:rPr>
                        <a:t>     </a:t>
                      </a:r>
                      <a:r>
                        <a:rPr lang="zh-CN" sz="1200" kern="100" dirty="0">
                          <a:effectLst/>
                        </a:rPr>
                        <a:t>不合格 </a:t>
                      </a:r>
                      <a:r>
                        <a:rPr lang="en-US" sz="1200" kern="100" dirty="0">
                          <a:effectLst/>
                          <a:sym typeface="Wingdings 2" pitchFamily="2" charset="2"/>
                        </a:rPr>
                        <a:t></a:t>
                      </a:r>
                      <a:r>
                        <a:rPr lang="en-US" sz="1200" kern="100" dirty="0">
                          <a:effectLst/>
                        </a:rPr>
                        <a:t>    </a:t>
                      </a:r>
                      <a:r>
                        <a:rPr lang="zh-CN" sz="1200" kern="100" dirty="0">
                          <a:effectLst/>
                        </a:rPr>
                        <a:t>检测单位：</a:t>
                      </a:r>
                      <a:r>
                        <a:rPr lang="en-US" sz="1200" kern="100" dirty="0">
                          <a:effectLst/>
                        </a:rPr>
                        <a:t>                           </a:t>
                      </a:r>
                      <a:r>
                        <a:rPr lang="zh-CN" sz="1200" kern="100" dirty="0">
                          <a:effectLst/>
                        </a:rPr>
                        <a:t>检测时间：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424" marR="67424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117123"/>
                  </a:ext>
                </a:extLst>
              </a:tr>
            </a:tbl>
          </a:graphicData>
        </a:graphic>
      </p:graphicFrame>
      <p:pic>
        <p:nvPicPr>
          <p:cNvPr id="7" name="图片 6" descr="说明: 65bOOOPICfc">
            <a:extLst>
              <a:ext uri="{FF2B5EF4-FFF2-40B4-BE49-F238E27FC236}">
                <a16:creationId xmlns:a16="http://schemas.microsoft.com/office/drawing/2014/main" id="{F065DDE2-D881-41B7-4D79-7B20C73F0A25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024" y="4004151"/>
            <a:ext cx="1033780" cy="995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 descr="说明: 3-11">
            <a:extLst>
              <a:ext uri="{FF2B5EF4-FFF2-40B4-BE49-F238E27FC236}">
                <a16:creationId xmlns:a16="http://schemas.microsoft.com/office/drawing/2014/main" id="{6BEBBAC3-35F6-37DD-F49B-2A034D867A4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478" y="4148023"/>
            <a:ext cx="10795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 descr="说明: 3-8">
            <a:extLst>
              <a:ext uri="{FF2B5EF4-FFF2-40B4-BE49-F238E27FC236}">
                <a16:creationId xmlns:a16="http://schemas.microsoft.com/office/drawing/2014/main" id="{D95A7847-7118-4BB5-8C6C-BE4BF1D9DC4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446" y="4148023"/>
            <a:ext cx="1206500" cy="109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 descr="说明: 3-1">
            <a:extLst>
              <a:ext uri="{FF2B5EF4-FFF2-40B4-BE49-F238E27FC236}">
                <a16:creationId xmlns:a16="http://schemas.microsoft.com/office/drawing/2014/main" id="{CE734E1F-DA23-2419-5ACE-B57F670CF57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025" y="4084523"/>
            <a:ext cx="1155700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 descr="说明: 3-7">
            <a:extLst>
              <a:ext uri="{FF2B5EF4-FFF2-40B4-BE49-F238E27FC236}">
                <a16:creationId xmlns:a16="http://schemas.microsoft.com/office/drawing/2014/main" id="{9A4801BE-858A-FD7C-B7A7-EB7E45A6F4A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571" y="4084523"/>
            <a:ext cx="1193800" cy="1092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4782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474</Words>
  <Application>Microsoft Macintosh PowerPoint</Application>
  <PresentationFormat>宽屏</PresentationFormat>
  <Paragraphs>30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Wingdings 2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瑞祥 张</dc:creator>
  <cp:lastModifiedBy>瑞祥 张</cp:lastModifiedBy>
  <cp:revision>1</cp:revision>
  <dcterms:created xsi:type="dcterms:W3CDTF">2025-10-21T02:08:10Z</dcterms:created>
  <dcterms:modified xsi:type="dcterms:W3CDTF">2025-10-21T02:10:56Z</dcterms:modified>
</cp:coreProperties>
</file>